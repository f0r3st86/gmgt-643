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Connecticut Housing Price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Comparative Analysis of Time Series and Regression Models</a:t>
            </a:r>
            <a:br/>
            <a:br/>
            <a:r>
              <a:t>GMGT-643 Data Analytics</a:t>
            </a:r>
            <a:br/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Forecast Housing Prices?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Housing affects everyone: buyers, investors, lenders</a:t>
            </a:r>
          </a:p>
          <a:p>
            <a:pPr>
              <a:spcAft>
                <a:spcPts val="1400"/>
              </a:spcAft>
              <a:defRPr sz="2400"/>
            </a:pPr>
            <a:r>
              <a:t>• Better predictions = better decisions</a:t>
            </a:r>
          </a:p>
          <a:p>
            <a:pPr>
              <a:spcAft>
                <a:spcPts val="1400"/>
              </a:spcAft>
              <a:defRPr sz="2400"/>
            </a:pPr>
            <a:r>
              <a:t>• Research Question: Which forecasting model works best?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Why Connecticut?</a:t>
            </a:r>
          </a:p>
          <a:p>
            <a:pPr>
              <a:spcAft>
                <a:spcPts val="1400"/>
              </a:spcAft>
              <a:defRPr sz="2400"/>
            </a:pPr>
            <a:r>
              <a:t>• Largest public real estate dataset in the country (1.1M+ transactions)</a:t>
            </a:r>
          </a:p>
          <a:p>
            <a:pPr>
              <a:spcAft>
                <a:spcPts val="1400"/>
              </a:spcAft>
              <a:defRPr sz="2400"/>
            </a:pPr>
            <a:r>
              <a:t>• Interesting market: NYC proximity, COVID-19 migration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3716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Details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CT Open Data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Housing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1.1M records (2001-2024)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FRED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Economic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Mortgage, Unemployment, CPI, Population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Filtered transactions under $10,000 (arm's length only)</a:t>
            </a:r>
          </a:p>
          <a:p>
            <a:pPr>
              <a:spcAft>
                <a:spcPts val="1400"/>
              </a:spcAft>
              <a:defRPr sz="2400"/>
            </a:pPr>
            <a:r>
              <a:t>• Residential properties only (no commercial)</a:t>
            </a:r>
          </a:p>
          <a:p>
            <a:pPr>
              <a:spcAft>
                <a:spcPts val="1400"/>
              </a:spcAft>
              <a:defRPr sz="2400"/>
            </a:pPr>
            <a:r>
              <a:t>• Created monthly MEDIAN prices (not average - avoids outlier skew)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Final Dataset:</a:t>
            </a:r>
          </a:p>
          <a:p>
            <a:pPr>
              <a:spcAft>
                <a:spcPts val="1400"/>
              </a:spcAft>
              <a:defRPr sz="2400"/>
            </a:pPr>
            <a:r>
              <a:t>• 279 months of data (1999-2024)</a:t>
            </a:r>
          </a:p>
          <a:p>
            <a:pPr>
              <a:spcAft>
                <a:spcPts val="1400"/>
              </a:spcAft>
              <a:defRPr sz="2400"/>
            </a:pPr>
            <a:r>
              <a:t>• 70/30 train-test split (195 / 84 months)</a:t>
            </a:r>
          </a:p>
          <a:p>
            <a:pPr>
              <a:spcAft>
                <a:spcPts val="1400"/>
              </a:spcAft>
              <a:defRPr sz="2400"/>
            </a:pPr>
            <a:r>
              <a:t>• Test period includes COVID-19 pandemic (stress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Connecticut Housing Price Trends</a:t>
            </a:r>
          </a:p>
        </p:txBody>
      </p:sp>
      <p:pic>
        <p:nvPicPr>
          <p:cNvPr id="3" name="Picture 2" descr="01_pri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8699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Key events: 2008 bubble/crash, long recovery, COVID-19 surge (2020+)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Economic Indicator Correlations</a:t>
            </a:r>
          </a:p>
        </p:txBody>
      </p:sp>
      <p:pic>
        <p:nvPicPr>
          <p:cNvPr id="3" name="Picture 2" descr="0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8079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CPI and population strongly correlated; mortgage rates show complex time-lag relationship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Seasonal Decomposition</a:t>
            </a:r>
          </a:p>
        </p:txBody>
      </p:sp>
      <p:pic>
        <p:nvPicPr>
          <p:cNvPr id="3" name="Picture 2" descr="04_season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80777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Clear upward trend, seasonal peaks in spring/summer, COVID surge visible in 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9 Forecasting Models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Key Feature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Last value = future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Seasonal 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Same month last year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Moving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3-month window (tuned)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Holt-Winters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Trend + seasonality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Ridge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Lagged features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Non-linear patterns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Facebook's tool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SARIMAX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ARIMA + economic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Weighted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 models averaged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Insight: Feature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3716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Ridge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Improvement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Current indicators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~14%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With lagged prices (1,3,6,12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10+ percentage points!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Lagged Features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Housing prices have momentum</a:t>
            </a:r>
          </a:p>
          <a:p>
            <a:pPr>
              <a:spcAft>
                <a:spcPts val="1400"/>
              </a:spcAft>
              <a:defRPr sz="2400"/>
            </a:pPr>
            <a:r>
              <a:t>• If prices went up last month, likely to go up this month</a:t>
            </a:r>
          </a:p>
          <a:p>
            <a:pPr>
              <a:spcAft>
                <a:spcPts val="1400"/>
              </a:spcAft>
              <a:defRPr sz="2400"/>
            </a:pPr>
            <a:r>
              <a:t>• Economic changes take time to affect prices</a:t>
            </a:r>
          </a:p>
          <a:p>
            <a:pPr>
              <a:spcAft>
                <a:spcPts val="1400"/>
              </a:spcAft>
              <a:defRPr sz="2400"/>
            </a:pPr>
            <a:r>
              <a:t>• Past prices are highly predictive of future prices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This was the biggest lesson:</a:t>
            </a:r>
          </a:p>
          <a:p>
            <a:pPr>
              <a:spcAft>
                <a:spcPts val="1400"/>
              </a:spcAft>
              <a:defRPr sz="2400"/>
            </a:pPr>
            <a:r>
              <a:t>• Feature engineering matters more than model 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Model Performance Results</a:t>
            </a:r>
          </a:p>
        </p:txBody>
      </p:sp>
      <p:pic>
        <p:nvPicPr>
          <p:cNvPr id="3" name="Picture 2" descr="0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5280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Ridge Regression (3.35% MAPE) outperformed all other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Ridge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$100K home → off by $3,350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Weighted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Combined best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Moving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Simple but effective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Holt-Winters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Captures seasonality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Seasonal 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Good 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Machine learning approach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Poor 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Underperformed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Forecasts vs Actual Prices</a:t>
            </a:r>
          </a:p>
        </p:txBody>
      </p:sp>
      <p:pic>
        <p:nvPicPr>
          <p:cNvPr id="3" name="Picture 2" descr="06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182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Top models tracked actual prices closely, even during COVID-19 surge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State-level data only</a:t>
            </a:r>
          </a:p>
          <a:p>
            <a:pPr>
              <a:spcAft>
                <a:spcPts val="1400"/>
              </a:spcAft>
              <a:defRPr sz="2400"/>
            </a:pPr>
            <a:r>
              <a:t>•    - Local markets vary (Fairfield County vs rural CT)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Lagged features assume trends continue</a:t>
            </a:r>
          </a:p>
          <a:p>
            <a:pPr>
              <a:spcAft>
                <a:spcPts val="1400"/>
              </a:spcAft>
              <a:defRPr sz="2400"/>
            </a:pPr>
            <a:r>
              <a:t>•    - May be slow to detect market turning points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Results specific to this time period</a:t>
            </a:r>
          </a:p>
          <a:p>
            <a:pPr>
              <a:spcAft>
                <a:spcPts val="1400"/>
              </a:spcAft>
              <a:defRPr sz="2400"/>
            </a:pPr>
            <a:r>
              <a:t>•    - Performance may differ in other market conditions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• Feature engineering &gt; model complexity</a:t>
            </a:r>
          </a:p>
          <a:p>
            <a:pPr>
              <a:spcAft>
                <a:spcPts val="1400"/>
              </a:spcAft>
              <a:defRPr sz="2400"/>
            </a:pPr>
            <a:r>
              <a:t>•    - Lagged prices improved MAPE by 10+ percentage points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Simple models work when tuned</a:t>
            </a:r>
          </a:p>
          <a:p>
            <a:pPr>
              <a:spcAft>
                <a:spcPts val="1400"/>
              </a:spcAft>
              <a:defRPr sz="2400"/>
            </a:pPr>
            <a:r>
              <a:t>•    - Moving Average and Holt-Winters achieved ~5% MAPE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Baselines are essential</a:t>
            </a:r>
          </a:p>
          <a:p>
            <a:pPr>
              <a:spcAft>
                <a:spcPts val="1400"/>
              </a:spcAft>
              <a:defRPr sz="2400"/>
            </a:pPr>
            <a:r>
              <a:t>•    - Without Naive model, can't measure improvement</a:t>
            </a:r>
          </a:p>
          <a:p>
            <a:pPr>
              <a:spcAft>
                <a:spcPts val="1400"/>
              </a:spcAft>
              <a:defRPr sz="2400"/>
            </a:pPr>
            <a:r>
              <a:t>• </a:t>
            </a:r>
          </a:p>
          <a:p>
            <a:pPr>
              <a:spcAft>
                <a:spcPts val="1400"/>
              </a:spcAft>
              <a:defRPr sz="2400"/>
            </a:pPr>
            <a:r>
              <a:t>• Best Model: Ridge Regression with Lagged Features (3.35% MAPE)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Thank you!</a:t>
            </a:r>
            <a:br/>
            <a:br/>
            <a:r>
              <a:t>Data: Connecticut Open Data Portal</a:t>
            </a:r>
            <a:br/>
            <a:r>
              <a:t>Economic Data: FRED (Federal Reserve)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